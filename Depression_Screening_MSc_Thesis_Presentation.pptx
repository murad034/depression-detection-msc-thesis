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88952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D7D31"/>
                </a:solidFill>
                <a:latin typeface="Calibri"/>
              </a:rPr>
              <a:t>MSc Thesis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BEHAVIORAL AND ACADEMIC INDICATOR-BASED
DEPRESSION SCREENING AMONG HIGHER
EDUCATION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D7D31"/>
                </a:solidFill>
                <a:latin typeface="Calibri"/>
              </a:rPr>
              <a:t>A COMPARATIVE MACHINE LEARNING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Submitted by: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657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Md. Murad Hossain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Supervised by: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434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Dr. Mrinal Kanti Baowaly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983480"/>
            <a:ext cx="7616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FD7ED"/>
                </a:solidFill>
                <a:latin typeface="Calibri"/>
              </a:rPr>
              <a:t>Department of Computer Science &amp; Engineering
Gopalganj Science and Technology University, Bangladesh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760720"/>
            <a:ext cx="2130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D7ED"/>
                </a:solidFill>
                <a:latin typeface="Calibri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486400" cy="713232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901952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15184"/>
            <a:ext cx="5486400" cy="7132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523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7977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93008"/>
            <a:ext cx="5486400" cy="713232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301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65760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70831"/>
            <a:ext cx="5486400" cy="7132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079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535423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Dataset &amp; Feature Description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48656"/>
            <a:ext cx="5486400" cy="713232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3858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413248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Methodology &amp; Preprocessing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737360"/>
            <a:ext cx="5486400" cy="7132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8745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901952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Classification Algorithms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615184"/>
            <a:ext cx="5486400" cy="713232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7523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779776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Experimental Setup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493008"/>
            <a:ext cx="5486400" cy="7132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6301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657600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Results &amp; Performance Analysis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370831"/>
            <a:ext cx="5486400" cy="713232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45079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D7D31"/>
                </a:solidFill>
                <a:latin typeface="Calibri"/>
              </a:rPr>
              <a:t>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535423"/>
            <a:ext cx="4709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Why does this research matter?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35608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3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5394960" cy="438912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002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21408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280 million people affected by depression globally (WHO)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Depression prevalence: 23–41% among higher education students in South Asia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Clinical screening (PHQ-9, BDI) is resource-intensive and difficult to scale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Social stigma prevents students from seeking help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No systematic automated tool for early detection at institutional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600200"/>
            <a:ext cx="539496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600200"/>
            <a:ext cx="5394960" cy="438912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60020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Bangladesh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21408"/>
            <a:ext cx="51663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1.5+ million students enrolled in degree programs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Rapid lifestyle changes increasing psychological burden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Academic pressure, financial strain, social expectations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Limited mental health infrastructure at institutions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▸  Urgent need: low-cost, automated, scalable screening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4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640080" cy="749808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2704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70432" y="1417320"/>
            <a:ext cx="10561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1508760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Construct a clinically-informed behavioral &amp; academic survey dataset from
       539 higher education students across 23 feature dimensions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68296"/>
            <a:ext cx="640080" cy="749808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478024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70432" y="2368296"/>
            <a:ext cx="10561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459736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Design and implement a systematic data preprocessing pipeline
       (encoding, imputation, and Z-score normalization)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19272"/>
            <a:ext cx="640080" cy="749808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70432" y="3319272"/>
            <a:ext cx="10561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3410712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Train and evaluate 4 supervised ML classifiers:
       SVM, Logistic Regression, XGBoost, and MLP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70248"/>
            <a:ext cx="640080" cy="749808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79976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0432" y="4270248"/>
            <a:ext cx="10561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25880" y="4361688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Compare models using Accuracy, Precision, Recall,
       F1-Score, and ROC AUC under 10-fold cross-validation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21224"/>
            <a:ext cx="640080" cy="749808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330952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70432" y="5221224"/>
            <a:ext cx="10561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312664"/>
            <a:ext cx="102412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Identify the optimal model for real-world
       student depression screening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Key prior work in ML-based depression detection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35608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5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1920240" cy="13716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856232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Mohd &amp; Yahya
(2018)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1737360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LR + ANN on student questionnaire data
→ 72–78%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5468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54680"/>
            <a:ext cx="1920240" cy="13716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10712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Deshpande &amp; Rao
(2017)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3291840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SVM + Naive Bayes on emotion-tagged social content
→ F1-score based evaluation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0916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709160"/>
            <a:ext cx="1920240" cy="13716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965192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Cacheda et al.
(2019)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5728" y="4846320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Dual Random Forest on social network streams
→ Early detection, dual model outperforms single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60020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600200"/>
            <a:ext cx="1920240" cy="13716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856232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Bae &amp; Lee
(2015)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1737360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Data mining of Korean adolescent clinical data
→ Depression = strongest predictor of suicide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15468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154680"/>
            <a:ext cx="1920240" cy="13716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3410712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Dipnall et al.
(2016)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3608" y="3291840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Fused ML + statistics for biomarker discovery
→ Ensemble learning effective in psychiatry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709160"/>
            <a:ext cx="5577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709160"/>
            <a:ext cx="1920240" cy="13716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965192"/>
            <a:ext cx="17556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Shrestha
(2018)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846320"/>
            <a:ext cx="338328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Twitter text features for depression prediction
→ Limited generalizability due to small dataset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355080"/>
            <a:ext cx="11457432" cy="1371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33679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F3E6E"/>
                </a:solidFill>
                <a:latin typeface="Calibri"/>
              </a:rPr>
              <a:t>Research Gap: No multi-classifier benchmarking framework on behavioral survey data for Bangladeshi higher education students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&amp; Feature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539 students · 23 features · binary class label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35608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6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72768"/>
            <a:ext cx="2560320" cy="9601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58191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D7D31"/>
                </a:solidFill>
                <a:latin typeface="Calibri"/>
              </a:rPr>
              <a:t>539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1214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Student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572768"/>
            <a:ext cx="2560320" cy="9601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58191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D7D31"/>
                </a:solidFill>
                <a:latin typeface="Calibri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1214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Feature Dimensions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59" y="1572768"/>
            <a:ext cx="2560320" cy="9601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158191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D7D31"/>
                </a:solidFill>
                <a:latin typeface="Calibri"/>
              </a:rPr>
              <a:t>40.62%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21214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Depressed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19" y="1572768"/>
            <a:ext cx="2560320" cy="9601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59" y="1581912"/>
            <a:ext cx="23774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D7D31"/>
                </a:solidFill>
                <a:latin typeface="Calibri"/>
              </a:rPr>
              <a:t>59.38%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59" y="212140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Not Depressed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24912"/>
            <a:ext cx="2212848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" y="2734056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Behavioral /
Psychological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127248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154680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Social norms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694176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3721608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Personality type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261104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4288536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Solitude comfort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828031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4855464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Talking about problems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394960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79" y="5422392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Hanging out with friends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24328" y="2724912"/>
            <a:ext cx="2212848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70048" y="2734056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Academic /
Performance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24328" y="3127248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15768" y="3154680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SSC Result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24328" y="3694176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15768" y="3721608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HSC Result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24328" y="4261104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15768" y="4288536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University CGPA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4328" y="4828031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15768" y="4855464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Challenging Education System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24328" y="5394960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15768" y="5422392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Extracurricular activities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28616" y="2724912"/>
            <a:ext cx="2212848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74336" y="2734056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Digital /
Lifestyle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28616" y="3127248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0056" y="3154680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Smartphone ownership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28616" y="3694176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0056" y="3721608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Daily sleep duration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28616" y="4261104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0056" y="4288536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Contentment in current role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28616" y="4828031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0056" y="4855464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Work anxiety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32904" y="2724912"/>
            <a:ext cx="2212848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78624" y="2734056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Family /
Social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32904" y="3127248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24344" y="3154680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Family contentment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32904" y="3694176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24344" y="3721608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Feel like a burden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32904" y="4261104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24344" y="4288536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Comfortable environment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32904" y="4828031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24344" y="4855464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Family size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37192" y="2724912"/>
            <a:ext cx="2212848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582912" y="2734056"/>
            <a:ext cx="21214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Clinical /
Risk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37192" y="3127248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28632" y="3154680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Suicide attempt history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37192" y="3694176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28632" y="3721608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Thoughts on suicide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37192" y="4261104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628632" y="4288536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Age (17–33)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37192" y="4828031"/>
            <a:ext cx="2212848" cy="53035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628632" y="4855464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Gender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37192" y="5394960"/>
            <a:ext cx="22128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628632" y="5422392"/>
            <a:ext cx="208483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1A"/>
                </a:solidFill>
                <a:latin typeface="Calibri"/>
              </a:rPr>
              <a:t>  → Class Label: Depression (Yes/No)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Methodology &amp; System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7 / 14</a:t>
            </a:r>
          </a:p>
        </p:txBody>
      </p:sp>
      <p:pic>
        <p:nvPicPr>
          <p:cNvPr id="9" name="Picture 8" descr="fig_page1_i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1920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3364992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F3E6E"/>
                </a:solidFill>
                <a:latin typeface="Calibri"/>
              </a:rPr>
              <a:t>Fig. 1: End-to-End System Pipeline — from Survey Design to Depression Risk Output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3767328"/>
            <a:ext cx="11548872" cy="347472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3767328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Preprocessing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21031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4187952"/>
            <a:ext cx="2103120" cy="5303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4206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1. Binary
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47548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Yes/No → 1/0
(13 features)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0903" y="4187952"/>
            <a:ext cx="21031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0903" y="4187952"/>
            <a:ext cx="2103120" cy="5303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34056" y="4206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2. One-Hot
Encoding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4056" y="47548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Gender, Personality
Environment → binary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4187952"/>
            <a:ext cx="21031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56048" y="4187952"/>
            <a:ext cx="2103120" cy="5303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4206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3. Median
Imputation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7548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Missing values
replaced by median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51192" y="4187952"/>
            <a:ext cx="21031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51192" y="4187952"/>
            <a:ext cx="2103120" cy="5303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24344" y="4206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4. Z-Score
Scaling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4344" y="47548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μ=0, σ=1
StandardScaler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46336" y="4187952"/>
            <a:ext cx="2103120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46336" y="4187952"/>
            <a:ext cx="2103120" cy="53035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9488" y="420624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5. Feature
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9488" y="4754880"/>
            <a:ext cx="1965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23 attrs →
26 dimensions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Classification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Four complementary ML paradigms for comparative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35608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8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72768"/>
            <a:ext cx="2651760" cy="9144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27632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SVM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87168"/>
            <a:ext cx="2651760" cy="3822191"/>
          </a:xfrm>
          <a:prstGeom prst="rect">
            <a:avLst/>
          </a:prstGeom>
          <a:solidFill>
            <a:srgbClr val="FFFFFF"/>
          </a:solidFill>
          <a:ln w="12700">
            <a:solidFill>
              <a:srgbClr val="1F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60604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Kernel-based margin maximization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747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RBF kernel for non-linear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3434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C=10, gamma='scale'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12079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Strong on small-to-medium datasets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0128" y="1572768"/>
            <a:ext cx="2651760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1627632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Logistic
Regression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487168"/>
            <a:ext cx="2651760" cy="3822191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260604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Linear probabilistic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34747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Sigmoid function → probability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288" y="43434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L-BFGS solver, C=1.0, max_iter=1000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5212079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Interpretable decision boundary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54496" y="1572768"/>
            <a:ext cx="2651760" cy="91440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1627632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6" y="2487168"/>
            <a:ext cx="2651760" cy="3822191"/>
          </a:xfrm>
          <a:prstGeom prst="rect">
            <a:avLst/>
          </a:prstGeom>
          <a:solidFill>
            <a:srgbClr val="FFFFFF"/>
          </a:solidFill>
          <a:ln w="12700">
            <a:solidFill>
              <a:srgbClr val="375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260604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Gradient-boosted decision trees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4747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L1/L2 regularization built-in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43434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200 estimators, max_depth=6, lr=0.1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1656" y="5212079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Handles missing values natively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98864" y="1572768"/>
            <a:ext cx="2651760" cy="9144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90304" y="1627632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MLP
(Neural Net)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98864" y="2487168"/>
            <a:ext cx="2651760" cy="3822191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6024" y="260604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3 hidden layers: 128 → 64 → 32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024" y="347472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ReLU activation, Adam optimizer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36024" y="4343400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Softmax output, max_iter=500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5212079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▸  Non-linear feature representation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6355080"/>
            <a:ext cx="11548872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36422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Evaluation: 10-Fold Stratified Cross-Validation   |   Metrics: Accuracy · Precision · Recall · F1-Score · ROC AUC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Experimental Setup &amp; Evaluation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9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36192"/>
            <a:ext cx="5394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36192"/>
            <a:ext cx="5394960" cy="4572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Simulation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66543"/>
            <a:ext cx="539496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  ✓  Programming Language:  Python 3.9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71215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907791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  ✓  scikit-learn 1.2.2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75887"/>
            <a:ext cx="539496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712463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  ✓  XGBoost 1.7.5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80560"/>
            <a:ext cx="53949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1713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  ✓  pandas 1.5.3  |  NumPy 1.24.3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85231"/>
            <a:ext cx="5394960" cy="7772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2180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1A"/>
                </a:solidFill>
                <a:latin typeface="Calibri"/>
              </a:rPr>
              <a:t>  ✓  Matplotlib 3.7.1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536192"/>
            <a:ext cx="53949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536192"/>
            <a:ext cx="5394960" cy="4572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53619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  Evaluation Protocol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066543"/>
            <a:ext cx="5394960" cy="5943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209397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E6E"/>
                </a:solidFill>
                <a:latin typeface="Calibri"/>
              </a:rPr>
              <a:t>10-Fold Stratified CV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13648" y="2093976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Class ratio preserved in every fold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688336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271576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E6E"/>
                </a:solidFill>
                <a:latin typeface="Calibri"/>
              </a:rPr>
              <a:t>Train / Test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2715768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80% (431) training  /  20% (108) testing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310128"/>
            <a:ext cx="5394960" cy="5943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3337560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E6E"/>
                </a:solidFill>
                <a:latin typeface="Calibri"/>
              </a:rP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13648" y="3337560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(TP+TN) / (TP+TN+FP+FN)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931920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3959352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E6E"/>
                </a:solidFill>
                <a:latin typeface="Calibri"/>
              </a:rPr>
              <a:t>Precision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3959352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TP / (TP + FP)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553712"/>
            <a:ext cx="5394960" cy="5943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4581144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E6E"/>
                </a:solidFill>
                <a:latin typeface="Calibri"/>
              </a:rPr>
              <a:t>Recall (TPR)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13648" y="4581144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TP / (TP + FN)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5175504"/>
            <a:ext cx="5394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5202936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E6E"/>
                </a:solidFill>
                <a:latin typeface="Calibri"/>
              </a:rPr>
              <a:t>F1-Score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5202936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2 × (Precision × Recall) / (P+R)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797296"/>
            <a:ext cx="5394960" cy="5943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5824728"/>
            <a:ext cx="2103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E6E"/>
                </a:solidFill>
                <a:latin typeface="Calibri"/>
              </a:rPr>
              <a:t>ROC AUC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5824728"/>
            <a:ext cx="3108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Area under ROC curve (0–1)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Experimental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TABLE: Performance Comparison — 10-Fold Stratified Cross-Validation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435608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10 / 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517904"/>
            <a:ext cx="3200400" cy="5029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1536192"/>
            <a:ext cx="3108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30752" y="1517904"/>
            <a:ext cx="1828800" cy="5029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85615" y="15361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MLP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86983" y="1517904"/>
            <a:ext cx="2468880" cy="5029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41847" y="153619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Logistic Regression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517904"/>
            <a:ext cx="1828800" cy="5029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5361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39528" y="1517904"/>
            <a:ext cx="1874519" cy="5029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94392" y="1536192"/>
            <a:ext cx="17830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D7D31"/>
                </a:solidFill>
                <a:latin typeface="Calibri"/>
              </a:rPr>
              <a:t>SVM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048256"/>
            <a:ext cx="320040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213969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Accuracy (%)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30752" y="2048256"/>
            <a:ext cx="182880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5615" y="21396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96.84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86983" y="2048256"/>
            <a:ext cx="246888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41847" y="2139696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97.77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83296" y="2048256"/>
            <a:ext cx="182880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139696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97.59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39528" y="2048256"/>
            <a:ext cx="1874519" cy="676656"/>
          </a:xfrm>
          <a:prstGeom prst="rect">
            <a:avLst/>
          </a:prstGeom>
          <a:solidFill>
            <a:srgbClr val="C6EFC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4392" y="2139696"/>
            <a:ext cx="1783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E6E"/>
                </a:solidFill>
                <a:latin typeface="Calibri"/>
              </a:rPr>
              <a:t>97.96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798064"/>
            <a:ext cx="3200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" y="288950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Avg. Precision (%)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30752" y="2798064"/>
            <a:ext cx="1828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85615" y="288950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95.47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86983" y="2798064"/>
            <a:ext cx="2468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41847" y="28895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97.23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83296" y="2798064"/>
            <a:ext cx="1828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288950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96.30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39528" y="2798064"/>
            <a:ext cx="1874519" cy="676656"/>
          </a:xfrm>
          <a:prstGeom prst="rect">
            <a:avLst/>
          </a:prstGeom>
          <a:solidFill>
            <a:srgbClr val="C6EFC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94392" y="2889504"/>
            <a:ext cx="1783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E6E"/>
                </a:solidFill>
                <a:latin typeface="Calibri"/>
              </a:rPr>
              <a:t>97.23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547872"/>
            <a:ext cx="320040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" y="3639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Avg. Recall (%)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30752" y="3547872"/>
            <a:ext cx="182880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85615" y="36393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95.37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586983" y="3547872"/>
            <a:ext cx="246888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41847" y="36393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97.22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83296" y="3547872"/>
            <a:ext cx="182880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36393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96.30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39528" y="3547872"/>
            <a:ext cx="1874519" cy="676656"/>
          </a:xfrm>
          <a:prstGeom prst="rect">
            <a:avLst/>
          </a:prstGeom>
          <a:solidFill>
            <a:srgbClr val="C6EFC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994392" y="3639312"/>
            <a:ext cx="1783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E6E"/>
                </a:solidFill>
                <a:latin typeface="Calibri"/>
              </a:rPr>
              <a:t>97.22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297680"/>
            <a:ext cx="32004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7784" y="43891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Avg. F1-Score (%)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730752" y="4297680"/>
            <a:ext cx="1828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785615" y="4389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95.34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86983" y="4297680"/>
            <a:ext cx="24688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641847" y="43891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97.22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83296" y="4297680"/>
            <a:ext cx="18288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38160" y="4389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96.30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39528" y="4297680"/>
            <a:ext cx="1874519" cy="676656"/>
          </a:xfrm>
          <a:prstGeom prst="rect">
            <a:avLst/>
          </a:prstGeom>
          <a:solidFill>
            <a:srgbClr val="C6EFC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994392" y="4389120"/>
            <a:ext cx="1783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E6E"/>
                </a:solidFill>
                <a:latin typeface="Calibri"/>
              </a:rPr>
              <a:t>97.22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047488"/>
            <a:ext cx="320040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7784" y="5138927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Avg. ROC AUC (%)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30752" y="5047488"/>
            <a:ext cx="182880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85615" y="5138927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99.01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86983" y="5047488"/>
            <a:ext cx="2468880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41847" y="5138927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99.50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83296" y="5047488"/>
            <a:ext cx="1828800" cy="676656"/>
          </a:xfrm>
          <a:prstGeom prst="rect">
            <a:avLst/>
          </a:prstGeom>
          <a:solidFill>
            <a:srgbClr val="C6EFC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38160" y="5138927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E6E"/>
                </a:solidFill>
                <a:latin typeface="Calibri"/>
              </a:rPr>
              <a:t>99.57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39528" y="5047488"/>
            <a:ext cx="1874519" cy="676656"/>
          </a:xfrm>
          <a:prstGeom prst="rect">
            <a:avLst/>
          </a:prstGeom>
          <a:solidFill>
            <a:srgbClr val="EBF3FB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94392" y="5138927"/>
            <a:ext cx="1783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1A"/>
                </a:solidFill>
                <a:latin typeface="Calibri"/>
              </a:rPr>
              <a:t>99.11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641908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1F3E6E"/>
                </a:solidFill>
                <a:latin typeface="Calibri"/>
              </a:rPr>
              <a:t>★ SVM achieved highest overall accuracy; XGBoost achieved highest ROC AUC  |  All models exceeded 96%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Results — Visual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11 / 14</a:t>
            </a:r>
          </a:p>
        </p:txBody>
      </p:sp>
      <p:pic>
        <p:nvPicPr>
          <p:cNvPr id="9" name="Picture 8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89888"/>
            <a:ext cx="5577840" cy="2423160"/>
          </a:xfrm>
          <a:prstGeom prst="rect">
            <a:avLst/>
          </a:prstGeom>
        </p:spPr>
      </p:pic>
      <p:pic>
        <p:nvPicPr>
          <p:cNvPr id="10" name="Picture 9" descr="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89888"/>
            <a:ext cx="5577840" cy="2423160"/>
          </a:xfrm>
          <a:prstGeom prst="rect">
            <a:avLst/>
          </a:prstGeom>
        </p:spPr>
      </p:pic>
      <p:pic>
        <p:nvPicPr>
          <p:cNvPr id="11" name="Picture 10" descr="metrics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13632"/>
            <a:ext cx="5577840" cy="2651760"/>
          </a:xfrm>
          <a:prstGeom prst="rect">
            <a:avLst/>
          </a:prstGeom>
        </p:spPr>
      </p:pic>
      <p:pic>
        <p:nvPicPr>
          <p:cNvPr id="12" name="Picture 11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913632"/>
            <a:ext cx="5577840" cy="265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374903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3E6E"/>
                </a:solidFill>
                <a:latin typeface="Calibri"/>
              </a:rPr>
              <a:t>Fig. 3: Accuracy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749039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3E6E"/>
                </a:solidFill>
                <a:latin typeface="Calibri"/>
              </a:rPr>
              <a:t>Fig. 5: ROC Curves (all AUC &gt; 99%)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922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3E6E"/>
                </a:solidFill>
                <a:latin typeface="Calibri"/>
              </a:rPr>
              <a:t>Fig. 6: All Metrics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649224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F3E6E"/>
                </a:solidFill>
                <a:latin typeface="Calibri"/>
              </a:rPr>
              <a:t>Fig. 4: Confusion Matrices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Key Findings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109728" cy="82296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1417320"/>
            <a:ext cx="11292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5389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E6E"/>
                </a:solidFill>
                <a:latin typeface="Calibri"/>
              </a:rPr>
              <a:t>SVM — Best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19656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97.96% accuracy confirms that RBF kernel maximum-margin classification
captures non-linear patterns in behavioral survey features most effectively.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68296"/>
            <a:ext cx="109728" cy="8229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2368296"/>
            <a:ext cx="11292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0487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4B5"/>
                </a:solidFill>
                <a:latin typeface="Calibri"/>
              </a:rPr>
              <a:t>Logistic Regression — Strong Linear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706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97.77% accuracy despite linear decision boundary — indicates the
preprocessed feature space is substantially linearly separable.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19272"/>
            <a:ext cx="109728" cy="822960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3319272"/>
            <a:ext cx="11292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355848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75623"/>
                </a:solidFill>
                <a:latin typeface="Calibri"/>
              </a:rPr>
              <a:t>XGBoost — Highest ROC 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216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99.57% ROC AUC demonstrates superior ranking capability;
gradient boosting effectively captures feature interaction effects.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70248"/>
            <a:ext cx="109728" cy="822960"/>
          </a:xfrm>
          <a:prstGeom prst="rect">
            <a:avLst/>
          </a:prstGeom>
          <a:solidFill>
            <a:srgbClr val="7B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4270248"/>
            <a:ext cx="11292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06824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7B7B"/>
                </a:solidFill>
                <a:latin typeface="Calibri"/>
              </a:rPr>
              <a:t>MLP — Solid Neural Network Baseline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67258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96.84% accuracy; hierarchical neural feature representations
valid for complex non-linear depression indicator patterns.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21224"/>
            <a:ext cx="109728" cy="8229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0352" y="5221224"/>
            <a:ext cx="11292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578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Overall 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623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All 4 models exceed 96% accuracy and 99% AUC — validating that
behavioral survey data + principled preprocessing = reliable depression screening.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43000"/>
            <a:ext cx="12188952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0515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Md. Murad Hossain  |  MSc Thesis Defense  |  Dept. of CSE, Gopalganj Science &amp; Technology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601968"/>
            <a:ext cx="457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13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536192"/>
            <a:ext cx="557784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536192"/>
            <a:ext cx="5577840" cy="4572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536192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  Conclusion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66543"/>
            <a:ext cx="5577840" cy="76809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✔  Proposed ML-based depression screening framework for
    higher education students using 23-feature survey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71215"/>
            <a:ext cx="55778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907791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✔  SVM achieved highest accuracy: 97.96%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75887"/>
            <a:ext cx="5577840" cy="76809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12463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✔  All 4 models exceeded 97% accuracy and 99% ROC AUC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80560"/>
            <a:ext cx="557784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517136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✔  Survey-driven, non-invasive, low-cost approach —
    deployable at institutional scale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285231"/>
            <a:ext cx="5577840" cy="76809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321808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✔  SVM recommended as optimal classifier for this domain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536192"/>
            <a:ext cx="5486400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536192"/>
            <a:ext cx="5486400" cy="4572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5361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  Future Work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066543"/>
            <a:ext cx="5486400" cy="76809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103120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➤  Expand dataset — multi-institution, longitudinal,
    diverse socioeconomic backgrounds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871215"/>
            <a:ext cx="54864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907791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➤  Multi-class severity: mild / moderate / severe
    aligned with PHQ-9 clinical scale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75887"/>
            <a:ext cx="5486400" cy="76809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712463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➤  Deep learning: transformers, graph neural networks
    for relational/temporal feature modeling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480560"/>
            <a:ext cx="5486400" cy="768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517136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➤  Passive sensing: smartphone usage, wearable
    sleep data as complementary features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285231"/>
            <a:ext cx="5486400" cy="768096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46520" y="5321808"/>
            <a:ext cx="5257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Calibri"/>
              </a:rPr>
              <a:t>➤  Real-time web application for university
    counseling service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88952" cy="7315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48840"/>
            <a:ext cx="8531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ED7D3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090672"/>
            <a:ext cx="5788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Md. Murad Hossain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611880"/>
            <a:ext cx="5239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BFD7ED"/>
                </a:solidFill>
                <a:latin typeface="Calibri"/>
              </a:rPr>
              <a:t>muradmd312@gmail.com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133087"/>
            <a:ext cx="6702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Supervised by: Dr. Mrinal Kanti Baowaly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572000"/>
            <a:ext cx="8531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FD7ED"/>
                </a:solidFill>
                <a:latin typeface="Calibri"/>
              </a:rPr>
              <a:t>Dept. of CSE  |  Gopalganj Science and Technology University, Bangladesh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5166360"/>
            <a:ext cx="9445752" cy="1170432"/>
          </a:xfrm>
          <a:prstGeom prst="rect">
            <a:avLst/>
          </a:prstGeom>
          <a:solidFill>
            <a:srgbClr val="16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5230368"/>
            <a:ext cx="88971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D7D31"/>
                </a:solidFill>
                <a:latin typeface="Calibri"/>
              </a:rPr>
              <a:t>SVM: 97.96%     LR: 97.77%     XGBoost: 97.59%     MLP: 96.84%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687568"/>
            <a:ext cx="8897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All ROC AUC &gt; 99%  |  10-Fold Stratified Cross-Validation  |  539 Students  |  23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